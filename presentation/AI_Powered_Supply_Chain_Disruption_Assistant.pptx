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312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658368"/>
            <a:ext cx="64008" cy="914400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" y="658368"/>
            <a:ext cx="64008" cy="749808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50976" y="658368"/>
            <a:ext cx="64008" cy="585216"/>
          </a:xfrm>
          <a:prstGeom prst="rect">
            <a:avLst/>
          </a:prstGeom>
          <a:solidFill>
            <a:srgbClr val="5B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658368"/>
            <a:ext cx="99669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C4CD"/>
                </a:solidFill>
                <a:latin typeface="Aptos"/>
              </a:rPr>
              <a:t>B.TECH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25880"/>
            <a:ext cx="9966960" cy="1325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AI-Powered Supply Chain
Disruption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852928"/>
            <a:ext cx="896112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5E0EF"/>
                </a:solidFill>
                <a:latin typeface="Aptos"/>
              </a:rPr>
              <a:t>Data-driven disruption analysis, historical case retrieval, machine learning predictions, and AI-assisted recommendations.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617720"/>
            <a:ext cx="2148840" cy="603504"/>
          </a:xfrm>
          <a:prstGeom prst="roundRect">
            <a:avLst/>
          </a:prstGeom>
          <a:solidFill>
            <a:srgbClr val="1E304A"/>
          </a:solidFill>
          <a:ln w="12700">
            <a:solidFill>
              <a:srgbClr val="42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07592" y="4681728"/>
            <a:ext cx="2002536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DISRUPTION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10712" y="4919472"/>
            <a:ext cx="310896" cy="0"/>
          </a:xfrm>
          <a:prstGeom prst="line">
            <a:avLst/>
          </a:prstGeom>
          <a:ln w="21590">
            <a:solidFill>
              <a:srgbClr val="5BC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76472" y="4617720"/>
            <a:ext cx="2148840" cy="603504"/>
          </a:xfrm>
          <a:prstGeom prst="roundRect">
            <a:avLst/>
          </a:prstGeom>
          <a:solidFill>
            <a:srgbClr val="1E304A"/>
          </a:solidFill>
          <a:ln w="12700">
            <a:solidFill>
              <a:srgbClr val="42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9624" y="4681728"/>
            <a:ext cx="2002536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RETRIEVAL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2744" y="4919472"/>
            <a:ext cx="310896" cy="0"/>
          </a:xfrm>
          <a:prstGeom prst="line">
            <a:avLst/>
          </a:prstGeom>
          <a:ln w="21590">
            <a:solidFill>
              <a:srgbClr val="5BC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18504" y="4617720"/>
            <a:ext cx="2148840" cy="603504"/>
          </a:xfrm>
          <a:prstGeom prst="roundRect">
            <a:avLst/>
          </a:prstGeom>
          <a:solidFill>
            <a:srgbClr val="1E304A"/>
          </a:solidFill>
          <a:ln w="12700">
            <a:solidFill>
              <a:srgbClr val="42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6" y="4681728"/>
            <a:ext cx="2002536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PREDICTION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94776" y="4919472"/>
            <a:ext cx="310896" cy="0"/>
          </a:xfrm>
          <a:prstGeom prst="line">
            <a:avLst/>
          </a:prstGeom>
          <a:ln w="21590">
            <a:solidFill>
              <a:srgbClr val="5BC4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60536" y="4617720"/>
            <a:ext cx="2148840" cy="603504"/>
          </a:xfrm>
          <a:prstGeom prst="roundRect">
            <a:avLst/>
          </a:prstGeom>
          <a:solidFill>
            <a:srgbClr val="1E304A"/>
          </a:solidFill>
          <a:ln w="12700">
            <a:solidFill>
              <a:srgbClr val="42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33688" y="4681728"/>
            <a:ext cx="2002536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897880"/>
            <a:ext cx="93268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CE2"/>
                </a:solidFill>
                <a:latin typeface="Aptos"/>
              </a:rPr>
              <a:t>React  •  FastAPI  •  LangGraph  •  MySQL  •  ChromaDB  •  BM25  •  Scikit-learn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B8CCE2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23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88136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68A"/>
                </a:solidFill>
                <a:latin typeface="Aptos"/>
              </a:rPr>
              <a:t>Why disruption analysis needs a structured, data-driven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82880"/>
            <a:ext cx="73152" cy="502920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68A"/>
                </a:solidFill>
                <a:latin typeface="Aptos"/>
              </a:rPr>
              <a:t>AI-POWERED SUPPLY CHAIN DISRUPTION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66768A"/>
                </a:solidFill>
                <a:latin typeface="Aptos"/>
              </a:rPr>
              <a:t>02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07008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1444752"/>
            <a:ext cx="1417320" cy="292608"/>
          </a:xfrm>
          <a:prstGeom prst="roundRect">
            <a:avLst/>
          </a:prstGeom>
          <a:solidFill>
            <a:srgbClr val="FCEFE6"/>
          </a:solidFill>
          <a:ln w="12700">
            <a:solidFill>
              <a:srgbClr val="FC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453896"/>
            <a:ext cx="1344168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E7913D"/>
                </a:solidFill>
                <a:latin typeface="Apto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466344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23A"/>
                </a:solidFill>
                <a:latin typeface="Aptos"/>
              </a:rPr>
              <a:t>Disruptions can affect production, revenue, supplier continuity, and recovery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4617720" cy="22402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E3B4C"/>
                </a:solidFill>
                <a:latin typeface="Aptos"/>
              </a:defRPr>
            </a:pPr>
            <a:r>
              <a:t>•  Historical incidents may be difficult to review efficiently.</a:t>
            </a:r>
          </a:p>
          <a:p>
            <a:pPr>
              <a:spcAft>
                <a:spcPts val="1000"/>
              </a:spcAft>
              <a:defRPr sz="1300">
                <a:solidFill>
                  <a:srgbClr val="2E3B4C"/>
                </a:solidFill>
                <a:latin typeface="Aptos"/>
              </a:defRPr>
            </a:pPr>
            <a:r>
              <a:t>•  Impact and recovery estimates require evidence and analysis.</a:t>
            </a:r>
          </a:p>
          <a:p>
            <a:pPr>
              <a:spcAft>
                <a:spcPts val="1000"/>
              </a:spcAft>
              <a:defRPr sz="1300">
                <a:solidFill>
                  <a:srgbClr val="2E3B4C"/>
                </a:solidFill>
                <a:latin typeface="Aptos"/>
              </a:defRPr>
            </a:pPr>
            <a:r>
              <a:t>•  Decision-makers need relevant cases and practical response options.</a:t>
            </a:r>
          </a:p>
          <a:p>
            <a:pPr>
              <a:spcAft>
                <a:spcPts val="1000"/>
              </a:spcAft>
              <a:defRPr sz="1300">
                <a:solidFill>
                  <a:srgbClr val="2E3B4C"/>
                </a:solidFill>
                <a:latin typeface="Aptos"/>
              </a:defRPr>
            </a:pPr>
            <a:r>
              <a:t>•  Results should be presented consistently and validated.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207008"/>
            <a:ext cx="5349240" cy="452628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1444752"/>
            <a:ext cx="1645920" cy="292608"/>
          </a:xfrm>
          <a:prstGeom prst="roundRect">
            <a:avLst/>
          </a:prstGeom>
          <a:solidFill>
            <a:srgbClr val="DEF5F2"/>
          </a:solidFill>
          <a:ln w="12700">
            <a:solidFill>
              <a:srgbClr val="DE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1453896"/>
            <a:ext cx="1572768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149799"/>
                </a:solidFill>
                <a:latin typeface="Aptos"/>
              </a:rPr>
              <a:t>PROJECT OBJECTIVES</a:t>
            </a:r>
          </a:p>
        </p:txBody>
      </p:sp>
      <p:sp>
        <p:nvSpPr>
          <p:cNvPr id="15" name="Oval 14"/>
          <p:cNvSpPr/>
          <p:nvPr/>
        </p:nvSpPr>
        <p:spPr>
          <a:xfrm>
            <a:off x="6510528" y="1938528"/>
            <a:ext cx="384048" cy="384048"/>
          </a:xfrm>
          <a:prstGeom prst="ellipse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1947672"/>
            <a:ext cx="3840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1920240"/>
            <a:ext cx="1051560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920240"/>
            <a:ext cx="3063240" cy="40233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Accept and process disruption details.</a:t>
            </a:r>
          </a:p>
        </p:txBody>
      </p:sp>
      <p:sp>
        <p:nvSpPr>
          <p:cNvPr id="19" name="Oval 18"/>
          <p:cNvSpPr/>
          <p:nvPr/>
        </p:nvSpPr>
        <p:spPr>
          <a:xfrm>
            <a:off x="6510528" y="2596896"/>
            <a:ext cx="384048" cy="384048"/>
          </a:xfrm>
          <a:prstGeom prst="ellipse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606039"/>
            <a:ext cx="3840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578608"/>
            <a:ext cx="1051560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578608"/>
            <a:ext cx="3063240" cy="40233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Find similar historical incidents.</a:t>
            </a:r>
          </a:p>
        </p:txBody>
      </p:sp>
      <p:sp>
        <p:nvSpPr>
          <p:cNvPr id="23" name="Oval 22"/>
          <p:cNvSpPr/>
          <p:nvPr/>
        </p:nvSpPr>
        <p:spPr>
          <a:xfrm>
            <a:off x="6510528" y="3255264"/>
            <a:ext cx="384048" cy="384048"/>
          </a:xfrm>
          <a:prstGeom prst="ellipse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264408"/>
            <a:ext cx="3840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3236976"/>
            <a:ext cx="1051560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Predict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236976"/>
            <a:ext cx="3063240" cy="40233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Estimate supported disruption outcomes.</a:t>
            </a:r>
          </a:p>
        </p:txBody>
      </p:sp>
      <p:sp>
        <p:nvSpPr>
          <p:cNvPr id="27" name="Oval 26"/>
          <p:cNvSpPr/>
          <p:nvPr/>
        </p:nvSpPr>
        <p:spPr>
          <a:xfrm>
            <a:off x="6510528" y="3913632"/>
            <a:ext cx="384048" cy="384048"/>
          </a:xfrm>
          <a:prstGeom prst="ellipse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3922776"/>
            <a:ext cx="3840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3895344"/>
            <a:ext cx="1051560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Synthesize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895344"/>
            <a:ext cx="3063240" cy="40233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Combine evidence into an AI-assisted analysis.</a:t>
            </a:r>
          </a:p>
        </p:txBody>
      </p:sp>
      <p:sp>
        <p:nvSpPr>
          <p:cNvPr id="31" name="Oval 30"/>
          <p:cNvSpPr/>
          <p:nvPr/>
        </p:nvSpPr>
        <p:spPr>
          <a:xfrm>
            <a:off x="6510528" y="4572000"/>
            <a:ext cx="384048" cy="384048"/>
          </a:xfrm>
          <a:prstGeom prst="ellipse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0528" y="4581144"/>
            <a:ext cx="384048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4553712"/>
            <a:ext cx="1051560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Present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553712"/>
            <a:ext cx="3063240" cy="40233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Show results and recommendations in one interface.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961888"/>
            <a:ext cx="10789920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768A"/>
                </a:solidFill>
                <a:latin typeface="Aptos"/>
              </a:rPr>
              <a:t>Goal: support informed mitigation and recovery decisions—not guarantee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23A"/>
                </a:solidFill>
                <a:latin typeface="Aptos"/>
              </a:rPr>
              <a:t>Proposed Solution &amp;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88136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68A"/>
                </a:solidFill>
                <a:latin typeface="Aptos"/>
              </a:rPr>
              <a:t>A unified workflow combines data retrieval, predictive models, and AI-assisted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82880"/>
            <a:ext cx="73152" cy="502920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68A"/>
                </a:solidFill>
                <a:latin typeface="Aptos"/>
              </a:rPr>
              <a:t>AI-POWERED SUPPLY CHAIN DISRUPTION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66768A"/>
                </a:solidFill>
                <a:latin typeface="Aptos"/>
              </a:rPr>
              <a:t>03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61872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408176"/>
            <a:ext cx="109728" cy="731520"/>
          </a:xfrm>
          <a:prstGeom prst="rect">
            <a:avLst/>
          </a:prstGeom>
          <a:solidFill>
            <a:srgbClr val="2E6FBF"/>
          </a:solidFill>
          <a:ln w="12700">
            <a:solidFill>
              <a:srgbClr val="2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417320"/>
            <a:ext cx="1938528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223A"/>
                </a:solidFill>
                <a:latin typeface="Aptos"/>
              </a:rPr>
              <a:t>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737360"/>
            <a:ext cx="193852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Disruption details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72384" y="1792224"/>
            <a:ext cx="365760" cy="0"/>
          </a:xfrm>
          <a:prstGeom prst="line">
            <a:avLst/>
          </a:prstGeom>
          <a:ln w="21590">
            <a:solidFill>
              <a:srgbClr val="14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02152" y="1261872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30168" y="1408176"/>
            <a:ext cx="109728" cy="731520"/>
          </a:xfrm>
          <a:prstGeom prst="rect">
            <a:avLst/>
          </a:prstGeom>
          <a:solidFill>
            <a:srgbClr val="149799"/>
          </a:solidFill>
          <a:ln w="12700">
            <a:solidFill>
              <a:srgbClr val="149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1336" y="1417320"/>
            <a:ext cx="1938528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223A"/>
                </a:solidFill>
                <a:latin typeface="Aptos"/>
              </a:rPr>
              <a:t>HYBRID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1336" y="1737360"/>
            <a:ext cx="193852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ChromaDB + BM25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52744" y="1792224"/>
            <a:ext cx="365760" cy="0"/>
          </a:xfrm>
          <a:prstGeom prst="line">
            <a:avLst/>
          </a:prstGeom>
          <a:ln w="21590">
            <a:solidFill>
              <a:srgbClr val="14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82512" y="1261872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10527" y="1408176"/>
            <a:ext cx="109728" cy="731520"/>
          </a:xfrm>
          <a:prstGeom prst="rect">
            <a:avLst/>
          </a:prstGeom>
          <a:solidFill>
            <a:srgbClr val="E7913D"/>
          </a:solidFill>
          <a:ln w="12700">
            <a:solidFill>
              <a:srgbClr val="E79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11696" y="1417320"/>
            <a:ext cx="1938528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223A"/>
                </a:solidFill>
                <a:latin typeface="Aptos"/>
              </a:rPr>
              <a:t>ML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1737360"/>
            <a:ext cx="193852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Four supported tasks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33104" y="1792224"/>
            <a:ext cx="365759" cy="0"/>
          </a:xfrm>
          <a:prstGeom prst="line">
            <a:avLst/>
          </a:prstGeom>
          <a:ln w="21590">
            <a:solidFill>
              <a:srgbClr val="149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62872" y="1261872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90888" y="1408176"/>
            <a:ext cx="109728" cy="731520"/>
          </a:xfrm>
          <a:prstGeom prst="rect">
            <a:avLst/>
          </a:prstGeom>
          <a:solidFill>
            <a:srgbClr val="41976D"/>
          </a:solidFill>
          <a:ln w="12700">
            <a:solidFill>
              <a:srgbClr val="419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92055" y="1417320"/>
            <a:ext cx="1938528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2223A"/>
                </a:solidFill>
                <a:latin typeface="Aptos"/>
              </a:rPr>
              <a:t>AI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5" y="1737360"/>
            <a:ext cx="193852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Synthesis + 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615184"/>
            <a:ext cx="457200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KEY ADVANTAGES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3063240"/>
            <a:ext cx="349300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" y="3136392"/>
            <a:ext cx="54864" cy="877824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3172968"/>
            <a:ext cx="3200400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Evidence-led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3538728"/>
            <a:ext cx="32004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E3B4C"/>
                </a:solidFill>
                <a:latin typeface="Aptos"/>
              </a:rPr>
              <a:t>Uses historical incidents alongside predictions.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43983" y="3063240"/>
            <a:ext cx="349300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43983" y="3136392"/>
            <a:ext cx="54864" cy="877824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08575" y="3172968"/>
            <a:ext cx="3200400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Modular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8575" y="3538728"/>
            <a:ext cx="32004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E3B4C"/>
                </a:solidFill>
                <a:latin typeface="Aptos"/>
              </a:rPr>
              <a:t>Specialized agents separate workflow responsibilities.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66175" y="3063240"/>
            <a:ext cx="349300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66175" y="3136392"/>
            <a:ext cx="54864" cy="877824"/>
          </a:xfrm>
          <a:prstGeom prst="rect">
            <a:avLst/>
          </a:prstGeom>
          <a:solidFill>
            <a:srgbClr val="E7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30767" y="3172968"/>
            <a:ext cx="3200400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Multi-task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3538728"/>
            <a:ext cx="32004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E3B4C"/>
                </a:solidFill>
                <a:latin typeface="Aptos"/>
              </a:rPr>
              <a:t>Supports impact, loss, recovery-time, and supplier-change predictions.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" y="4297680"/>
            <a:ext cx="349300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" y="4370832"/>
            <a:ext cx="54864" cy="877824"/>
          </a:xfrm>
          <a:prstGeom prst="rect">
            <a:avLst/>
          </a:prstGeom>
          <a:solidFill>
            <a:srgbClr val="41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6384" y="4407408"/>
            <a:ext cx="3200400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Resilient routing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" y="4773168"/>
            <a:ext cx="32004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E3B4C"/>
                </a:solidFill>
                <a:latin typeface="Aptos"/>
              </a:rPr>
              <a:t>Configured LLM fallback can help handle provider failures.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43983" y="4297680"/>
            <a:ext cx="349300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443983" y="4370832"/>
            <a:ext cx="54864" cy="877824"/>
          </a:xfrm>
          <a:prstGeom prst="rect">
            <a:avLst/>
          </a:prstGeom>
          <a:solidFill>
            <a:srgbClr val="5B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08575" y="4407408"/>
            <a:ext cx="3200400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Centralized 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8575" y="4773168"/>
            <a:ext cx="32004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E3B4C"/>
                </a:solidFill>
                <a:latin typeface="Aptos"/>
              </a:rPr>
              <a:t>Presents analysis, evidence, and recommendations together.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66175" y="4297680"/>
            <a:ext cx="349300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266175" y="4370832"/>
            <a:ext cx="54864" cy="877824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30767" y="4407408"/>
            <a:ext cx="3200400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2223A"/>
                </a:solidFill>
                <a:latin typeface="Aptos"/>
              </a:rPr>
              <a:t>Persistent records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0767" y="4773168"/>
            <a:ext cx="32004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2E3B4C"/>
                </a:solidFill>
                <a:latin typeface="Aptos"/>
              </a:rPr>
              <a:t>Stores applicable application and analysis records.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5806440"/>
            <a:ext cx="1078992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768A"/>
                </a:solidFill>
                <a:latin typeface="Aptos"/>
              </a:rPr>
              <a:t>Intended value: improve the consistency and accessibility of disruption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68A"/>
                </a:solidFill>
                <a:latin typeface="Aptos"/>
              </a:rPr>
              <a:t>AI-POWERED SUPPLY CHAIN DISRUPTION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66768A"/>
                </a:solidFill>
                <a:latin typeface="Aptos"/>
              </a:rPr>
              <a:t>04 / 07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EB04393-C839-C61E-3755-6FDF56F69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" y="0"/>
            <a:ext cx="121572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23A"/>
                </a:solidFill>
                <a:latin typeface="Aptos"/>
              </a:rPr>
              <a:t>End-to-End Disruption Analysis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88136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68A"/>
                </a:solidFill>
                <a:latin typeface="Aptos"/>
              </a:rPr>
              <a:t>From user-submitted disruption details to validated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82880"/>
            <a:ext cx="73152" cy="502920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68A"/>
                </a:solidFill>
                <a:latin typeface="Aptos"/>
              </a:rPr>
              <a:t>AI-POWERED SUPPLY CHAIN DISRUPTION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66768A"/>
                </a:solidFill>
                <a:latin typeface="Aptos"/>
              </a:rPr>
              <a:t>05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2148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2148840" cy="82296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44751"/>
            <a:ext cx="1965960" cy="26517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2223A"/>
                </a:solidFill>
                <a:latin typeface="Aptos"/>
              </a:rPr>
              <a:t>1  USER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737360"/>
            <a:ext cx="1929384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2E3B4C"/>
                </a:solidFill>
                <a:latin typeface="Aptos"/>
              </a:rPr>
              <a:t>Enter disruption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1298448"/>
            <a:ext cx="2148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8688" y="1298448"/>
            <a:ext cx="2148840" cy="82296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0128" y="1444751"/>
            <a:ext cx="1965960" cy="26517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2223A"/>
                </a:solidFill>
                <a:latin typeface="Aptos"/>
              </a:rPr>
              <a:t>2  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1737360"/>
            <a:ext cx="1929384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2E3B4C"/>
                </a:solidFill>
                <a:latin typeface="Aptos"/>
              </a:rPr>
              <a:t>Validate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70448" y="1298448"/>
            <a:ext cx="2148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70448" y="1298448"/>
            <a:ext cx="2148840" cy="82296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61888" y="1444751"/>
            <a:ext cx="1965960" cy="26517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2223A"/>
                </a:solidFill>
                <a:latin typeface="Aptos"/>
              </a:rPr>
              <a:t>3  LANGGRAPH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1737360"/>
            <a:ext cx="1929384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2E3B4C"/>
                </a:solidFill>
                <a:latin typeface="Aptos"/>
              </a:rPr>
              <a:t>Run sequential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22208" y="1298448"/>
            <a:ext cx="2834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22208" y="1298448"/>
            <a:ext cx="2834640" cy="82296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13648" y="1444751"/>
            <a:ext cx="2651760" cy="26517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2223A"/>
                </a:solidFill>
                <a:latin typeface="Aptos"/>
              </a:rPr>
              <a:t>4  HYBRID 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1737360"/>
            <a:ext cx="2615184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2E3B4C"/>
                </a:solidFill>
                <a:latin typeface="Aptos"/>
              </a:rPr>
              <a:t>ChromaDB + BM25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22208" y="3776472"/>
            <a:ext cx="28346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522208" y="3776472"/>
            <a:ext cx="2834640" cy="82296"/>
          </a:xfrm>
          <a:prstGeom prst="rect">
            <a:avLst/>
          </a:prstGeom>
          <a:solidFill>
            <a:srgbClr val="E7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13648" y="3922776"/>
            <a:ext cx="2651760" cy="26517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2223A"/>
                </a:solidFill>
                <a:latin typeface="Aptos"/>
              </a:rPr>
              <a:t>5  ML PREDICTIONS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1936" y="4215383"/>
            <a:ext cx="2615184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2E3B4C"/>
                </a:solidFill>
                <a:latin typeface="Aptos"/>
              </a:rPr>
              <a:t>Impact • loss • recovery • change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0448" y="3776472"/>
            <a:ext cx="2148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70448" y="3776472"/>
            <a:ext cx="2148840" cy="82296"/>
          </a:xfrm>
          <a:prstGeom prst="rect">
            <a:avLst/>
          </a:prstGeom>
          <a:solidFill>
            <a:srgbClr val="41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61888" y="3922776"/>
            <a:ext cx="1965960" cy="26517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2223A"/>
                </a:solidFill>
                <a:latin typeface="Aptos"/>
              </a:rPr>
              <a:t>6  AI SYNTHESIS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0176" y="4215383"/>
            <a:ext cx="1929384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2E3B4C"/>
                </a:solidFill>
                <a:latin typeface="Aptos"/>
              </a:rPr>
              <a:t>Configured LLM + fallback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18688" y="3776472"/>
            <a:ext cx="2148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18688" y="3776472"/>
            <a:ext cx="2148840" cy="82296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10128" y="3922776"/>
            <a:ext cx="1965960" cy="26517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2223A"/>
                </a:solidFill>
                <a:latin typeface="Aptos"/>
              </a:rPr>
              <a:t>7  VALIDATE &amp;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8416" y="4215383"/>
            <a:ext cx="1929384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2E3B4C"/>
                </a:solidFill>
                <a:latin typeface="Aptos"/>
              </a:rPr>
              <a:t>Check output; persist records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776472"/>
            <a:ext cx="21488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6928" y="3776472"/>
            <a:ext cx="2148840" cy="82296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" y="3922776"/>
            <a:ext cx="1965960" cy="26517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40" b="1" i="0">
                <a:solidFill>
                  <a:srgbClr val="12223A"/>
                </a:solidFill>
                <a:latin typeface="Aptos"/>
              </a:rPr>
              <a:t>8  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4215383"/>
            <a:ext cx="1929384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60" b="0" i="0">
                <a:solidFill>
                  <a:srgbClr val="2E3B4C"/>
                </a:solidFill>
                <a:latin typeface="Aptos"/>
              </a:rPr>
              <a:t>Evidence + recommendations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715768" y="1719072"/>
            <a:ext cx="466344" cy="0"/>
          </a:xfrm>
          <a:prstGeom prst="line">
            <a:avLst/>
          </a:prstGeom>
          <a:ln w="21590">
            <a:solidFill>
              <a:srgbClr val="2E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367528" y="1719072"/>
            <a:ext cx="466344" cy="0"/>
          </a:xfrm>
          <a:prstGeom prst="line">
            <a:avLst/>
          </a:prstGeom>
          <a:ln w="21590">
            <a:solidFill>
              <a:srgbClr val="2E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019288" y="1719072"/>
            <a:ext cx="466344" cy="0"/>
          </a:xfrm>
          <a:prstGeom prst="line">
            <a:avLst/>
          </a:prstGeom>
          <a:ln w="21590">
            <a:solidFill>
              <a:srgbClr val="2E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939528" y="2157984"/>
            <a:ext cx="0" cy="1563624"/>
          </a:xfrm>
          <a:prstGeom prst="line">
            <a:avLst/>
          </a:prstGeom>
          <a:ln w="21590">
            <a:solidFill>
              <a:srgbClr val="2E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8055864" y="4197096"/>
            <a:ext cx="429768" cy="0"/>
          </a:xfrm>
          <a:prstGeom prst="line">
            <a:avLst/>
          </a:prstGeom>
          <a:ln w="21590">
            <a:solidFill>
              <a:srgbClr val="2E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404104" y="4197096"/>
            <a:ext cx="429768" cy="0"/>
          </a:xfrm>
          <a:prstGeom prst="line">
            <a:avLst/>
          </a:prstGeom>
          <a:ln w="21590">
            <a:solidFill>
              <a:srgbClr val="2E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2752344" y="4197096"/>
            <a:ext cx="429768" cy="0"/>
          </a:xfrm>
          <a:prstGeom prst="line">
            <a:avLst/>
          </a:prstGeom>
          <a:ln w="21590">
            <a:solidFill>
              <a:srgbClr val="2E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43600" y="2487168"/>
            <a:ext cx="2011680" cy="566928"/>
          </a:xfrm>
          <a:prstGeom prst="roundRect">
            <a:avLst/>
          </a:prstGeom>
          <a:solidFill>
            <a:srgbClr val="FCF3E7"/>
          </a:solidFill>
          <a:ln w="12700">
            <a:solidFill>
              <a:srgbClr val="EEC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35040" y="2542032"/>
            <a:ext cx="182880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975B1E"/>
                </a:solidFill>
                <a:latin typeface="Aptos"/>
              </a:rPr>
              <a:t>Provider failure → fallback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903720" y="3054096"/>
            <a:ext cx="0" cy="676656"/>
          </a:xfrm>
          <a:prstGeom prst="line">
            <a:avLst/>
          </a:prstGeom>
          <a:ln w="19050">
            <a:solidFill>
              <a:srgbClr val="E79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31520" y="5074920"/>
            <a:ext cx="1069848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2E3B4C"/>
                </a:solidFill>
                <a:latin typeface="Aptos"/>
              </a:rPr>
              <a:t>The sequential agent workflow coordinates classification, retrieval, impact assessment, response, recovery, resilience, prioritization, recommendations, and validation.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474720" y="5715000"/>
            <a:ext cx="5303520" cy="292608"/>
          </a:xfrm>
          <a:prstGeom prst="roundRect">
            <a:avLst/>
          </a:prstGeom>
          <a:solidFill>
            <a:srgbClr val="DEF5F2"/>
          </a:solidFill>
          <a:ln w="12700">
            <a:solidFill>
              <a:srgbClr val="DEF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11296" y="5724144"/>
            <a:ext cx="5230368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49799"/>
                </a:solidFill>
                <a:latin typeface="Aptos"/>
              </a:rPr>
              <a:t>USER SUBMISSION  →  EVIDENCE + PREDICTIONS  →  DECISION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7899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2223A"/>
                </a:solidFill>
                <a:latin typeface="Aptos"/>
              </a:rPr>
              <a:t>Prediction Capabilities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88136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6768A"/>
                </a:solidFill>
                <a:latin typeface="Aptos"/>
              </a:rPr>
              <a:t>How model outputs complement historical evidence and AI-assisted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82880"/>
            <a:ext cx="73152" cy="502920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04672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6768A"/>
                </a:solidFill>
                <a:latin typeface="Aptos"/>
              </a:rPr>
              <a:t>AI-POWERED SUPPLY CHAIN DISRUPTION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92240"/>
            <a:ext cx="594360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66768A"/>
                </a:solidFill>
                <a:latin typeface="Aptos"/>
              </a:rPr>
              <a:t>06 /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120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481328"/>
            <a:ext cx="457200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23A"/>
                </a:solidFill>
                <a:latin typeface="Aptos"/>
              </a:rPr>
              <a:t>FOUR PREDICTION TASKS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057400"/>
            <a:ext cx="411480" cy="411480"/>
          </a:xfrm>
          <a:prstGeom prst="ellipse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066543"/>
            <a:ext cx="41148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39112"/>
            <a:ext cx="2651760" cy="3017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223A"/>
                </a:solidFill>
                <a:latin typeface="Aptos"/>
              </a:rPr>
              <a:t>Production impact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075688"/>
            <a:ext cx="1143000" cy="29260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EF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97096" y="2084831"/>
            <a:ext cx="1069848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2E6FBF"/>
                </a:solidFill>
                <a:latin typeface="Aptos"/>
              </a:rPr>
              <a:t>Regression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770632"/>
            <a:ext cx="411480" cy="411480"/>
          </a:xfrm>
          <a:prstGeom prst="ellipse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779776"/>
            <a:ext cx="41148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752344"/>
            <a:ext cx="2651760" cy="3017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223A"/>
                </a:solidFill>
                <a:latin typeface="Aptos"/>
              </a:rPr>
              <a:t>Revenue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788920"/>
            <a:ext cx="1143000" cy="29260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EF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97096" y="2798064"/>
            <a:ext cx="1069848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49799"/>
                </a:solidFill>
                <a:latin typeface="Aptos"/>
              </a:rPr>
              <a:t>Regression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483864"/>
            <a:ext cx="411480" cy="411480"/>
          </a:xfrm>
          <a:prstGeom prst="ellipse">
            <a:avLst/>
          </a:prstGeom>
          <a:solidFill>
            <a:srgbClr val="E79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493008"/>
            <a:ext cx="41148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465576"/>
            <a:ext cx="2651760" cy="3017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223A"/>
                </a:solidFill>
                <a:latin typeface="Aptos"/>
              </a:rPr>
              <a:t>Full recovery 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502152"/>
            <a:ext cx="1143000" cy="29260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EF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97096" y="3511296"/>
            <a:ext cx="1069848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E7913D"/>
                </a:solidFill>
                <a:latin typeface="Aptos"/>
              </a:rPr>
              <a:t>Regression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197096"/>
            <a:ext cx="411480" cy="411480"/>
          </a:xfrm>
          <a:prstGeom prst="ellipse">
            <a:avLst/>
          </a:prstGeom>
          <a:solidFill>
            <a:srgbClr val="4197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206240"/>
            <a:ext cx="41148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178808"/>
            <a:ext cx="2651760" cy="3017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12223A"/>
                </a:solidFill>
                <a:latin typeface="Aptos"/>
              </a:rPr>
              <a:t>Permanent supplier change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4215383"/>
            <a:ext cx="1143000" cy="292608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EFF5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97096" y="4224527"/>
            <a:ext cx="1069848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41976D"/>
                </a:solidFill>
                <a:latin typeface="Aptos"/>
              </a:rPr>
              <a:t>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47488"/>
            <a:ext cx="4526280" cy="3931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66768A"/>
                </a:solidFill>
                <a:latin typeface="Aptos"/>
              </a:rPr>
              <a:t>Predictions are decision-support estimates; they should be interpreted with context and available evidence.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234440"/>
            <a:ext cx="5349240" cy="4434840"/>
          </a:xfrm>
          <a:prstGeom prst="roundRect">
            <a:avLst/>
          </a:prstGeom>
          <a:solidFill>
            <a:srgbClr val="EFF5F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1481328"/>
            <a:ext cx="4663440" cy="3657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2223A"/>
                </a:solidFill>
                <a:latin typeface="Aptos"/>
              </a:rPr>
              <a:t>PRACTICAL VALUE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993392"/>
            <a:ext cx="4572000" cy="24688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2E3B4C"/>
                </a:solidFill>
                <a:latin typeface="Aptos"/>
              </a:defRPr>
            </a:pPr>
            <a:r>
              <a:t>•  Structured assessment of disruption impact</a:t>
            </a:r>
          </a:p>
          <a:p>
            <a:pPr>
              <a:spcAft>
                <a:spcPts val="1200"/>
              </a:spcAft>
              <a:defRPr sz="1250">
                <a:solidFill>
                  <a:srgbClr val="2E3B4C"/>
                </a:solidFill>
                <a:latin typeface="Aptos"/>
              </a:defRPr>
            </a:pPr>
            <a:r>
              <a:t>•  Faster review of comparable historical incidents</a:t>
            </a:r>
          </a:p>
          <a:p>
            <a:pPr>
              <a:spcAft>
                <a:spcPts val="1200"/>
              </a:spcAft>
              <a:defRPr sz="1250">
                <a:solidFill>
                  <a:srgbClr val="2E3B4C"/>
                </a:solidFill>
                <a:latin typeface="Aptos"/>
              </a:defRPr>
            </a:pPr>
            <a:r>
              <a:t>•  Data-driven estimates for selected outcomes</a:t>
            </a:r>
          </a:p>
          <a:p>
            <a:pPr>
              <a:spcAft>
                <a:spcPts val="1200"/>
              </a:spcAft>
              <a:defRPr sz="1250">
                <a:solidFill>
                  <a:srgbClr val="2E3B4C"/>
                </a:solidFill>
                <a:latin typeface="Aptos"/>
              </a:defRPr>
            </a:pPr>
            <a:r>
              <a:t>•  Analysis and recommendations in one interface</a:t>
            </a:r>
          </a:p>
          <a:p>
            <a:pPr>
              <a:spcAft>
                <a:spcPts val="1200"/>
              </a:spcAft>
              <a:defRPr sz="1250">
                <a:solidFill>
                  <a:srgbClr val="2E3B4C"/>
                </a:solidFill>
                <a:latin typeface="Aptos"/>
              </a:defRPr>
            </a:pPr>
            <a:r>
              <a:t>•  Support for mitigation and recovery discussions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46520" y="4709160"/>
            <a:ext cx="4572000" cy="658368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12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29400" y="4782312"/>
            <a:ext cx="420624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Turn historical disruption data into actionable decision support.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43600"/>
            <a:ext cx="10698480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6768A"/>
                </a:solidFill>
                <a:latin typeface="Aptos"/>
              </a:rPr>
              <a:t>Conclusion: retrieval + machine learning + agent orchestration + LLM-assisted synthesis in one workflow.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376672"/>
            <a:ext cx="10863072" cy="841248"/>
          </a:xfrm>
          <a:prstGeom prst="roundRect">
            <a:avLst/>
          </a:prstGeom>
          <a:solidFill>
            <a:srgbClr val="FCF3E7"/>
          </a:solidFill>
          <a:ln w="12700">
            <a:solidFill>
              <a:srgbClr val="EEC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5431536"/>
            <a:ext cx="13258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975B1E"/>
                </a:solidFill>
                <a:latin typeface="Aptos"/>
              </a:rPr>
              <a:t>LIMITATIONS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5404104"/>
            <a:ext cx="9098280" cy="7132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 i="0">
                <a:solidFill>
                  <a:srgbClr val="2E3B4C"/>
                </a:solidFill>
                <a:latin typeface="Aptos"/>
              </a:rPr>
              <a:t>Predictions depend on historical data quality and may not capture every real-world disruption. Model estimates are uncertain; recommendations need human review. LLM output and provider availability can vary, and evaluation coverage may be limited by available test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777240"/>
            <a:ext cx="68580" cy="822960"/>
          </a:xfrm>
          <a:prstGeom prst="rect">
            <a:avLst/>
          </a:prstGeom>
          <a:solidFill>
            <a:srgbClr val="14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78408" y="777240"/>
            <a:ext cx="68580" cy="694944"/>
          </a:xfrm>
          <a:prstGeom prst="rect">
            <a:avLst/>
          </a:prstGeom>
          <a:solidFill>
            <a:srgbClr val="2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33856" y="777240"/>
            <a:ext cx="68580" cy="566928"/>
          </a:xfrm>
          <a:prstGeom prst="rect">
            <a:avLst/>
          </a:prstGeom>
          <a:solidFill>
            <a:srgbClr val="5B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17320" y="1097280"/>
            <a:ext cx="9326880" cy="10515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331720"/>
            <a:ext cx="9052560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5BC4CD"/>
                </a:solidFill>
                <a:latin typeface="Aptos"/>
              </a:rPr>
              <a:t>AI-Powered Supply Chain Disruption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246120"/>
            <a:ext cx="886968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5E0EF"/>
                </a:solidFill>
                <a:latin typeface="Aptos"/>
              </a:rPr>
              <a:t>Turning historical disruption data into actionable decision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4617720"/>
            <a:ext cx="2011680" cy="594360"/>
          </a:xfrm>
          <a:prstGeom prst="roundRect">
            <a:avLst/>
          </a:prstGeom>
          <a:solidFill>
            <a:srgbClr val="1E304A"/>
          </a:solidFill>
          <a:ln w="12700">
            <a:solidFill>
              <a:srgbClr val="42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36192" y="4681728"/>
            <a:ext cx="1865376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4892040"/>
            <a:ext cx="228600" cy="22860"/>
          </a:xfrm>
          <a:prstGeom prst="rect">
            <a:avLst/>
          </a:prstGeom>
          <a:solidFill>
            <a:srgbClr val="5B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hevron 10"/>
          <p:cNvSpPr/>
          <p:nvPr/>
        </p:nvSpPr>
        <p:spPr>
          <a:xfrm>
            <a:off x="3648456" y="4773168"/>
            <a:ext cx="201168" cy="237744"/>
          </a:xfrm>
          <a:prstGeom prst="chevron">
            <a:avLst/>
          </a:prstGeom>
          <a:solidFill>
            <a:srgbClr val="5B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886200" y="4617720"/>
            <a:ext cx="2011680" cy="594360"/>
          </a:xfrm>
          <a:prstGeom prst="roundRect">
            <a:avLst/>
          </a:prstGeom>
          <a:solidFill>
            <a:srgbClr val="1E304A"/>
          </a:solidFill>
          <a:ln w="12700">
            <a:solidFill>
              <a:srgbClr val="42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59352" y="4681728"/>
            <a:ext cx="1865376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16168" y="4892040"/>
            <a:ext cx="228600" cy="22860"/>
          </a:xfrm>
          <a:prstGeom prst="rect">
            <a:avLst/>
          </a:prstGeom>
          <a:solidFill>
            <a:srgbClr val="5B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hevron 14"/>
          <p:cNvSpPr/>
          <p:nvPr/>
        </p:nvSpPr>
        <p:spPr>
          <a:xfrm>
            <a:off x="6071616" y="4773168"/>
            <a:ext cx="201168" cy="237744"/>
          </a:xfrm>
          <a:prstGeom prst="chevron">
            <a:avLst/>
          </a:prstGeom>
          <a:solidFill>
            <a:srgbClr val="5B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09360" y="4617720"/>
            <a:ext cx="2011680" cy="594360"/>
          </a:xfrm>
          <a:prstGeom prst="roundRect">
            <a:avLst/>
          </a:prstGeom>
          <a:solidFill>
            <a:srgbClr val="1E304A"/>
          </a:solidFill>
          <a:ln w="12700">
            <a:solidFill>
              <a:srgbClr val="42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4681728"/>
            <a:ext cx="1865376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39328" y="4892040"/>
            <a:ext cx="228600" cy="22860"/>
          </a:xfrm>
          <a:prstGeom prst="rect">
            <a:avLst/>
          </a:prstGeom>
          <a:solidFill>
            <a:srgbClr val="5B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494776" y="4773168"/>
            <a:ext cx="201168" cy="237744"/>
          </a:xfrm>
          <a:prstGeom prst="chevron">
            <a:avLst/>
          </a:prstGeom>
          <a:solidFill>
            <a:srgbClr val="5BC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32519" y="4617720"/>
            <a:ext cx="2011680" cy="594360"/>
          </a:xfrm>
          <a:prstGeom prst="roundRect">
            <a:avLst/>
          </a:prstGeom>
          <a:solidFill>
            <a:srgbClr val="1E304A"/>
          </a:solidFill>
          <a:ln w="12700">
            <a:solidFill>
              <a:srgbClr val="4257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05672" y="4681728"/>
            <a:ext cx="1865376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989320"/>
            <a:ext cx="81381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8CCE2"/>
                </a:solidFill>
                <a:latin typeface="Aptos"/>
              </a:rPr>
              <a:t>Questions &amp; discussion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658368" cy="2011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B8CCE2"/>
                </a:solidFill>
                <a:latin typeface="Apto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600</Words>
  <Application>Microsoft Office PowerPoint</Application>
  <PresentationFormat>Widescreen</PresentationFormat>
  <Paragraphs>124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Gnanasai Chebrolu</cp:lastModifiedBy>
  <cp:revision>2</cp:revision>
  <dcterms:created xsi:type="dcterms:W3CDTF">2013-01-27T09:14:16Z</dcterms:created>
  <dcterms:modified xsi:type="dcterms:W3CDTF">2026-10-10T19:27:38Z</dcterms:modified>
  <cp:category/>
</cp:coreProperties>
</file>